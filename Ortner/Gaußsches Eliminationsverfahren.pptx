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E92609C1-D979-4F90-AF18-3F624BA2DF5C}">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9933"/>
    <a:srgbClr val="00C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3" d="100"/>
          <a:sy n="103" d="100"/>
        </p:scale>
        <p:origin x="126" y="4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de-DE"/>
              <a:t>Mastertitelformat bearbeiten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436428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26184821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1078093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8857C5D7-73EE-4686-B9B2-8ED37E233552}" type="datetimeFigureOut">
              <a:rPr lang="de-AT" smtClean="0"/>
              <a:t>24.06.2022</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8323438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de-DE"/>
              <a:t>Mastertitelformat bearbeiten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8857C5D7-73EE-4686-B9B2-8ED37E233552}" type="datetimeFigureOut">
              <a:rPr lang="de-AT" smtClean="0"/>
              <a:t>24.06.2022</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33002408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8857C5D7-73EE-4686-B9B2-8ED37E233552}" type="datetimeFigureOut">
              <a:rPr lang="de-AT" smtClean="0"/>
              <a:t>24.06.2022</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38239687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57C5D7-73EE-4686-B9B2-8ED37E233552}" type="datetimeFigureOut">
              <a:rPr lang="de-AT" smtClean="0"/>
              <a:t>24.06.2022</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547225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de-DE"/>
              <a:t>Mastertitelformat bearbeiten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8857C5D7-73EE-4686-B9B2-8ED37E233552}" type="datetimeFigureOut">
              <a:rPr lang="de-AT" smtClean="0"/>
              <a:t>24.06.2022</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261122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de-DE"/>
              <a:t>Mastertitelformat bearbeiten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de-DE"/>
              <a:t>Bild durch Klicken auf Symbol hinzufügen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p:txBody>
          <a:bodyPr/>
          <a:lstStyle/>
          <a:p>
            <a:fld id="{8857C5D7-73EE-4686-B9B2-8ED37E233552}" type="datetimeFigureOut">
              <a:rPr lang="de-AT" smtClean="0"/>
              <a:t>24.06.2022</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105503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 und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4093471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Zitat mit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3474551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nskart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17641687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nskarte für Zitat">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8374265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Wahr oder Falsch">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2306011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11320998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de-DE"/>
              <a:t>Mastertitelformat bearbeiten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8857C5D7-73EE-4686-B9B2-8ED37E233552}" type="datetimeFigureOut">
              <a:rPr lang="de-AT" smtClean="0"/>
              <a:t>24.06.2022</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10CA8CCD-06F0-4614-974C-41816C28BADF}" type="slidenum">
              <a:rPr lang="de-AT" smtClean="0"/>
              <a:t>‹Nr.›</a:t>
            </a:fld>
            <a:endParaRPr lang="de-AT"/>
          </a:p>
        </p:txBody>
      </p:sp>
    </p:spTree>
    <p:extLst>
      <p:ext uri="{BB962C8B-B14F-4D97-AF65-F5344CB8AC3E}">
        <p14:creationId xmlns:p14="http://schemas.microsoft.com/office/powerpoint/2010/main" val="8520658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de-DE"/>
              <a:t>Mastertitelformat bearbeiten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857C5D7-73EE-4686-B9B2-8ED37E233552}" type="datetimeFigureOut">
              <a:rPr lang="de-AT" smtClean="0"/>
              <a:t>24.06.2022</a:t>
            </a:fld>
            <a:endParaRPr lang="de-AT"/>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10CA8CCD-06F0-4614-974C-41816C28BADF}" type="slidenum">
              <a:rPr lang="de-AT" smtClean="0"/>
              <a:t>‹Nr.›</a:t>
            </a:fld>
            <a:endParaRPr lang="de-AT"/>
          </a:p>
        </p:txBody>
      </p:sp>
    </p:spTree>
    <p:extLst>
      <p:ext uri="{BB962C8B-B14F-4D97-AF65-F5344CB8AC3E}">
        <p14:creationId xmlns:p14="http://schemas.microsoft.com/office/powerpoint/2010/main" val="187129447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wikipedia.org/wiki/Gau%C3%9Fsches_Eliminationsverfahren" TargetMode="External"/><Relationship Id="rId2" Type="http://schemas.openxmlformats.org/officeDocument/2006/relationships/hyperlink" Target="https://de.wikipedia.org/wiki/Lineares_Gleichungssystem"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67F785-6A99-586A-873C-C16EE4033C4A}"/>
              </a:ext>
            </a:extLst>
          </p:cNvPr>
          <p:cNvSpPr>
            <a:spLocks noGrp="1"/>
          </p:cNvSpPr>
          <p:nvPr>
            <p:ph type="ctrTitle"/>
          </p:nvPr>
        </p:nvSpPr>
        <p:spPr/>
        <p:txBody>
          <a:bodyPr/>
          <a:lstStyle/>
          <a:p>
            <a:r>
              <a:rPr lang="de-DE" dirty="0"/>
              <a:t>Gaußsches Eliminationsverfahren</a:t>
            </a:r>
            <a:endParaRPr lang="de-AT" dirty="0"/>
          </a:p>
        </p:txBody>
      </p:sp>
      <p:sp>
        <p:nvSpPr>
          <p:cNvPr id="3" name="Untertitel 2">
            <a:extLst>
              <a:ext uri="{FF2B5EF4-FFF2-40B4-BE49-F238E27FC236}">
                <a16:creationId xmlns:a16="http://schemas.microsoft.com/office/drawing/2014/main" id="{38261F04-E45E-8CB4-58FD-A1608C69E6F4}"/>
              </a:ext>
            </a:extLst>
          </p:cNvPr>
          <p:cNvSpPr>
            <a:spLocks noGrp="1"/>
          </p:cNvSpPr>
          <p:nvPr>
            <p:ph type="subTitle" idx="1"/>
          </p:nvPr>
        </p:nvSpPr>
        <p:spPr/>
        <p:txBody>
          <a:bodyPr/>
          <a:lstStyle/>
          <a:p>
            <a:endParaRPr lang="de-AT"/>
          </a:p>
        </p:txBody>
      </p:sp>
    </p:spTree>
    <p:extLst>
      <p:ext uri="{BB962C8B-B14F-4D97-AF65-F5344CB8AC3E}">
        <p14:creationId xmlns:p14="http://schemas.microsoft.com/office/powerpoint/2010/main" val="4798833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A55672-D889-81E8-CB4E-D00BD1A1AAD5}"/>
              </a:ext>
            </a:extLst>
          </p:cNvPr>
          <p:cNvSpPr>
            <a:spLocks noGrp="1"/>
          </p:cNvSpPr>
          <p:nvPr>
            <p:ph type="title"/>
          </p:nvPr>
        </p:nvSpPr>
        <p:spPr/>
        <p:txBody>
          <a:bodyPr/>
          <a:lstStyle/>
          <a:p>
            <a:r>
              <a:rPr lang="de-DE" dirty="0"/>
              <a:t>Agenda</a:t>
            </a:r>
            <a:br>
              <a:rPr lang="de-DE" dirty="0"/>
            </a:br>
            <a:endParaRPr lang="de-AT" dirty="0"/>
          </a:p>
        </p:txBody>
      </p:sp>
      <p:sp>
        <p:nvSpPr>
          <p:cNvPr id="3" name="Inhaltsplatzhalter 2">
            <a:extLst>
              <a:ext uri="{FF2B5EF4-FFF2-40B4-BE49-F238E27FC236}">
                <a16:creationId xmlns:a16="http://schemas.microsoft.com/office/drawing/2014/main" id="{9CA41CC2-42BF-F9E1-C379-055C443FFB18}"/>
              </a:ext>
            </a:extLst>
          </p:cNvPr>
          <p:cNvSpPr>
            <a:spLocks noGrp="1"/>
          </p:cNvSpPr>
          <p:nvPr>
            <p:ph idx="1"/>
          </p:nvPr>
        </p:nvSpPr>
        <p:spPr/>
        <p:txBody>
          <a:bodyPr/>
          <a:lstStyle/>
          <a:p>
            <a:r>
              <a:rPr lang="de-DE" dirty="0"/>
              <a:t>Gauß</a:t>
            </a:r>
          </a:p>
          <a:p>
            <a:r>
              <a:rPr lang="de-DE" dirty="0"/>
              <a:t>Gaußsches Eliminationsverfahren</a:t>
            </a:r>
          </a:p>
        </p:txBody>
      </p:sp>
    </p:spTree>
    <p:extLst>
      <p:ext uri="{BB962C8B-B14F-4D97-AF65-F5344CB8AC3E}">
        <p14:creationId xmlns:p14="http://schemas.microsoft.com/office/powerpoint/2010/main" val="24696905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D42A6D-83AF-44AC-E4AA-CF5A7097ACEE}"/>
              </a:ext>
            </a:extLst>
          </p:cNvPr>
          <p:cNvSpPr>
            <a:spLocks noGrp="1"/>
          </p:cNvSpPr>
          <p:nvPr>
            <p:ph type="title"/>
          </p:nvPr>
        </p:nvSpPr>
        <p:spPr/>
        <p:txBody>
          <a:bodyPr/>
          <a:lstStyle/>
          <a:p>
            <a:r>
              <a:rPr lang="de-DE" dirty="0"/>
              <a:t>Gauß</a:t>
            </a:r>
            <a:endParaRPr lang="de-AT" dirty="0"/>
          </a:p>
        </p:txBody>
      </p:sp>
      <p:sp>
        <p:nvSpPr>
          <p:cNvPr id="3" name="Inhaltsplatzhalter 2">
            <a:extLst>
              <a:ext uri="{FF2B5EF4-FFF2-40B4-BE49-F238E27FC236}">
                <a16:creationId xmlns:a16="http://schemas.microsoft.com/office/drawing/2014/main" id="{95B0B531-58F3-21F2-1DA9-EDE3895EEDF4}"/>
              </a:ext>
            </a:extLst>
          </p:cNvPr>
          <p:cNvSpPr>
            <a:spLocks noGrp="1"/>
          </p:cNvSpPr>
          <p:nvPr>
            <p:ph idx="1"/>
          </p:nvPr>
        </p:nvSpPr>
        <p:spPr/>
        <p:txBody>
          <a:bodyPr/>
          <a:lstStyle/>
          <a:p>
            <a:r>
              <a:rPr lang="de-AT" b="0" i="0" dirty="0">
                <a:solidFill>
                  <a:srgbClr val="202124"/>
                </a:solidFill>
                <a:effectLst/>
                <a:latin typeface="arial" panose="020B0604020202020204" pitchFamily="34" charset="0"/>
              </a:rPr>
              <a:t>Carl Friedrich Gauß</a:t>
            </a:r>
            <a:endParaRPr lang="de-AT" dirty="0"/>
          </a:p>
          <a:p>
            <a:r>
              <a:rPr lang="de-AT" b="0" i="0" dirty="0">
                <a:solidFill>
                  <a:srgbClr val="202124"/>
                </a:solidFill>
                <a:effectLst/>
                <a:latin typeface="arial" panose="020B0604020202020204" pitchFamily="34" charset="0"/>
              </a:rPr>
              <a:t>* 30. April 1777</a:t>
            </a:r>
          </a:p>
          <a:p>
            <a:r>
              <a:rPr lang="de-AT" b="0" i="0" dirty="0">
                <a:solidFill>
                  <a:srgbClr val="202122"/>
                </a:solidFill>
                <a:effectLst/>
                <a:latin typeface="Arial" panose="020B0604020202020204" pitchFamily="34" charset="0"/>
              </a:rPr>
              <a:t>† </a:t>
            </a:r>
            <a:r>
              <a:rPr lang="de-AT" b="0" i="0" dirty="0">
                <a:solidFill>
                  <a:srgbClr val="202124"/>
                </a:solidFill>
                <a:effectLst/>
                <a:latin typeface="arial" panose="020B0604020202020204" pitchFamily="34" charset="0"/>
              </a:rPr>
              <a:t>23. Februar 1855</a:t>
            </a:r>
          </a:p>
          <a:p>
            <a:r>
              <a:rPr lang="de-AT" dirty="0">
                <a:solidFill>
                  <a:srgbClr val="202124"/>
                </a:solidFill>
                <a:latin typeface="arial" panose="020B0604020202020204" pitchFamily="34" charset="0"/>
              </a:rPr>
              <a:t>größte Leistung </a:t>
            </a:r>
            <a:r>
              <a:rPr lang="de-DE" b="0" i="0" dirty="0">
                <a:solidFill>
                  <a:srgbClr val="202122"/>
                </a:solidFill>
                <a:effectLst/>
                <a:latin typeface="Arial" panose="020B0604020202020204" pitchFamily="34" charset="0"/>
              </a:rPr>
              <a:t> systematische Lösung umfangreicher </a:t>
            </a:r>
            <a:r>
              <a:rPr lang="de-DE" b="0" i="0" u="none" strike="noStrike" dirty="0">
                <a:solidFill>
                  <a:srgbClr val="339933"/>
                </a:solidFill>
                <a:effectLst/>
                <a:latin typeface="Arial" panose="020B0604020202020204" pitchFamily="34" charset="0"/>
                <a:hlinkClick r:id="rId2" tooltip="Lineares Gleichungssystem">
                  <a:extLst>
                    <a:ext uri="{A12FA001-AC4F-418D-AE19-62706E023703}">
                      <ahyp:hlinkClr xmlns:ahyp="http://schemas.microsoft.com/office/drawing/2018/hyperlinkcolor" val="tx"/>
                    </a:ext>
                  </a:extLst>
                </a:hlinkClick>
              </a:rPr>
              <a:t>linearer Gleichungssysteme</a:t>
            </a:r>
            <a:r>
              <a:rPr lang="de-DE" b="0" i="0" dirty="0">
                <a:solidFill>
                  <a:srgbClr val="339933"/>
                </a:solidFill>
                <a:effectLst/>
                <a:latin typeface="Arial" panose="020B0604020202020204" pitchFamily="34" charset="0"/>
              </a:rPr>
              <a:t> (</a:t>
            </a:r>
            <a:r>
              <a:rPr lang="de-DE" b="0" i="0" u="none" strike="noStrike" dirty="0" err="1">
                <a:solidFill>
                  <a:srgbClr val="339933"/>
                </a:solidFill>
                <a:effectLst/>
                <a:latin typeface="Arial" panose="020B0604020202020204" pitchFamily="34" charset="0"/>
                <a:hlinkClick r:id="rId3" tooltip="Gaußsches Eliminationsverfahren">
                  <a:extLst>
                    <a:ext uri="{A12FA001-AC4F-418D-AE19-62706E023703}">
                      <ahyp:hlinkClr xmlns:ahyp="http://schemas.microsoft.com/office/drawing/2018/hyperlinkcolor" val="tx"/>
                    </a:ext>
                  </a:extLst>
                </a:hlinkClick>
              </a:rPr>
              <a:t>gaußsches</a:t>
            </a:r>
            <a:r>
              <a:rPr lang="de-DE" b="0" i="0" u="none" strike="noStrike" dirty="0">
                <a:solidFill>
                  <a:srgbClr val="339933"/>
                </a:solidFill>
                <a:effectLst/>
                <a:latin typeface="Arial" panose="020B0604020202020204" pitchFamily="34" charset="0"/>
                <a:hlinkClick r:id="rId3" tooltip="Gaußsches Eliminationsverfahren">
                  <a:extLst>
                    <a:ext uri="{A12FA001-AC4F-418D-AE19-62706E023703}">
                      <ahyp:hlinkClr xmlns:ahyp="http://schemas.microsoft.com/office/drawing/2018/hyperlinkcolor" val="tx"/>
                    </a:ext>
                  </a:extLst>
                </a:hlinkClick>
              </a:rPr>
              <a:t> Eliminationsverfahren</a:t>
            </a:r>
            <a:r>
              <a:rPr lang="de-DE" dirty="0">
                <a:solidFill>
                  <a:srgbClr val="339933"/>
                </a:solidFill>
                <a:latin typeface="Arial" panose="020B0604020202020204" pitchFamily="34" charset="0"/>
              </a:rPr>
              <a:t>, </a:t>
            </a:r>
            <a:r>
              <a:rPr lang="de-DE" dirty="0" err="1">
                <a:solidFill>
                  <a:srgbClr val="339933"/>
                </a:solidFill>
                <a:latin typeface="Arial" panose="020B0604020202020204" pitchFamily="34" charset="0"/>
              </a:rPr>
              <a:t>gaußsches</a:t>
            </a:r>
            <a:r>
              <a:rPr lang="de-DE" dirty="0">
                <a:solidFill>
                  <a:srgbClr val="339933"/>
                </a:solidFill>
                <a:latin typeface="Arial" panose="020B0604020202020204" pitchFamily="34" charset="0"/>
              </a:rPr>
              <a:t> Additionsverfahren)</a:t>
            </a:r>
            <a:endParaRPr lang="de-AT" dirty="0">
              <a:solidFill>
                <a:srgbClr val="339933"/>
              </a:solidFill>
              <a:latin typeface="Arial" panose="020B0604020202020204" pitchFamily="34" charset="0"/>
            </a:endParaRPr>
          </a:p>
        </p:txBody>
      </p:sp>
    </p:spTree>
    <p:extLst>
      <p:ext uri="{BB962C8B-B14F-4D97-AF65-F5344CB8AC3E}">
        <p14:creationId xmlns:p14="http://schemas.microsoft.com/office/powerpoint/2010/main" val="21055242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B07D6D-8F0D-73B1-F745-B925AF4F3511}"/>
              </a:ext>
            </a:extLst>
          </p:cNvPr>
          <p:cNvSpPr>
            <a:spLocks noGrp="1"/>
          </p:cNvSpPr>
          <p:nvPr>
            <p:ph type="title"/>
          </p:nvPr>
        </p:nvSpPr>
        <p:spPr/>
        <p:txBody>
          <a:bodyPr/>
          <a:lstStyle/>
          <a:p>
            <a:r>
              <a:rPr lang="de-DE" dirty="0"/>
              <a:t>Gaußsches Eliminationsverfahren</a:t>
            </a:r>
            <a:endParaRPr lang="de-AT" dirty="0"/>
          </a:p>
        </p:txBody>
      </p:sp>
      <p:sp>
        <p:nvSpPr>
          <p:cNvPr id="3" name="Inhaltsplatzhalter 2">
            <a:extLst>
              <a:ext uri="{FF2B5EF4-FFF2-40B4-BE49-F238E27FC236}">
                <a16:creationId xmlns:a16="http://schemas.microsoft.com/office/drawing/2014/main" id="{1A358E29-BC66-9C6D-021C-80B3ED0114D9}"/>
              </a:ext>
            </a:extLst>
          </p:cNvPr>
          <p:cNvSpPr>
            <a:spLocks noGrp="1"/>
          </p:cNvSpPr>
          <p:nvPr>
            <p:ph idx="1"/>
          </p:nvPr>
        </p:nvSpPr>
        <p:spPr/>
        <p:txBody>
          <a:bodyPr/>
          <a:lstStyle/>
          <a:p>
            <a:r>
              <a:rPr lang="de-AT" dirty="0">
                <a:effectLst/>
              </a:rPr>
              <a:t>Lösung linearer Gleichungssysteme</a:t>
            </a:r>
          </a:p>
          <a:p>
            <a:r>
              <a:rPr lang="de-AT" sz="1800" dirty="0">
                <a:effectLst/>
                <a:latin typeface="Calibri" panose="020F0502020204030204" pitchFamily="34" charset="0"/>
                <a:ea typeface="Calibri" panose="020F0502020204030204" pitchFamily="34" charset="0"/>
                <a:cs typeface="Times New Roman" panose="02020603050405020304" pitchFamily="18" charset="0"/>
              </a:rPr>
              <a:t>Matrixform </a:t>
            </a:r>
          </a:p>
          <a:p>
            <a:r>
              <a:rPr lang="de-AT" sz="1800" dirty="0">
                <a:effectLst/>
                <a:latin typeface="Calibri" panose="020F0502020204030204" pitchFamily="34" charset="0"/>
                <a:ea typeface="Calibri" panose="020F0502020204030204" pitchFamily="34" charset="0"/>
                <a:cs typeface="Times New Roman" panose="02020603050405020304" pitchFamily="18" charset="0"/>
              </a:rPr>
              <a:t>Zeilenumformung </a:t>
            </a:r>
            <a:r>
              <a:rPr lang="de-AT" dirty="0">
                <a:latin typeface="Calibri" panose="020F0502020204030204" pitchFamily="34" charset="0"/>
                <a:ea typeface="Calibri" panose="020F0502020204030204" pitchFamily="34" charset="0"/>
                <a:cs typeface="Times New Roman" panose="02020603050405020304" pitchFamily="18" charset="0"/>
              </a:rPr>
              <a:t>-&gt; </a:t>
            </a:r>
            <a:r>
              <a:rPr lang="de-AT" sz="1800" dirty="0">
                <a:effectLst/>
                <a:latin typeface="Calibri" panose="020F0502020204030204" pitchFamily="34" charset="0"/>
                <a:ea typeface="Calibri" panose="020F0502020204030204" pitchFamily="34" charset="0"/>
                <a:cs typeface="Times New Roman" panose="02020603050405020304" pitchFamily="18" charset="0"/>
              </a:rPr>
              <a:t>Hauptdiagonalen zu 0 </a:t>
            </a:r>
            <a:endParaRPr lang="de-AT" dirty="0"/>
          </a:p>
        </p:txBody>
      </p:sp>
    </p:spTree>
    <p:extLst>
      <p:ext uri="{BB962C8B-B14F-4D97-AF65-F5344CB8AC3E}">
        <p14:creationId xmlns:p14="http://schemas.microsoft.com/office/powerpoint/2010/main" val="4174167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90A61547-2555-4DE2-A37F-A53E549174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3" name="Straight Connector 12">
              <a:extLst>
                <a:ext uri="{FF2B5EF4-FFF2-40B4-BE49-F238E27FC236}">
                  <a16:creationId xmlns:a16="http://schemas.microsoft.com/office/drawing/2014/main" id="{5C2447E0-8F0D-479C-94E4-82BC8EB68C0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F943397-DCDD-44CB-BBA9-9510B7698DD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E2630ADC-31DB-4C48-AC4A-DAAE5A7B8E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5">
              <a:extLst>
                <a:ext uri="{FF2B5EF4-FFF2-40B4-BE49-F238E27FC236}">
                  <a16:creationId xmlns:a16="http://schemas.microsoft.com/office/drawing/2014/main" id="{2CA5C44E-F54E-47E0-8989-4D8686B33C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Isosceles Triangle 16">
              <a:extLst>
                <a:ext uri="{FF2B5EF4-FFF2-40B4-BE49-F238E27FC236}">
                  <a16:creationId xmlns:a16="http://schemas.microsoft.com/office/drawing/2014/main" id="{FF54E15E-830B-4375-A239-4C51954DEA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Rectangle 27">
              <a:extLst>
                <a:ext uri="{FF2B5EF4-FFF2-40B4-BE49-F238E27FC236}">
                  <a16:creationId xmlns:a16="http://schemas.microsoft.com/office/drawing/2014/main" id="{CB37E322-FF7E-4872-BD6B-50A48CBEA5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28">
              <a:extLst>
                <a:ext uri="{FF2B5EF4-FFF2-40B4-BE49-F238E27FC236}">
                  <a16:creationId xmlns:a16="http://schemas.microsoft.com/office/drawing/2014/main" id="{710D0C1E-D2F8-45B2-AE14-1AC8E976F7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29">
              <a:extLst>
                <a:ext uri="{FF2B5EF4-FFF2-40B4-BE49-F238E27FC236}">
                  <a16:creationId xmlns:a16="http://schemas.microsoft.com/office/drawing/2014/main" id="{3216331B-17D0-4167-ABD2-B2198058C2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Isosceles Triangle 20">
              <a:extLst>
                <a:ext uri="{FF2B5EF4-FFF2-40B4-BE49-F238E27FC236}">
                  <a16:creationId xmlns:a16="http://schemas.microsoft.com/office/drawing/2014/main" id="{A53A7A96-3806-4BB3-91DE-6EED48AC7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Isosceles Triangle 21">
              <a:extLst>
                <a:ext uri="{FF2B5EF4-FFF2-40B4-BE49-F238E27FC236}">
                  <a16:creationId xmlns:a16="http://schemas.microsoft.com/office/drawing/2014/main" id="{F8C2B86C-EE71-466E-8991-503F9C9C1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el 1">
            <a:extLst>
              <a:ext uri="{FF2B5EF4-FFF2-40B4-BE49-F238E27FC236}">
                <a16:creationId xmlns:a16="http://schemas.microsoft.com/office/drawing/2014/main" id="{AC309E66-4BBB-FACD-229F-4CE9F946E13A}"/>
              </a:ext>
            </a:extLst>
          </p:cNvPr>
          <p:cNvSpPr>
            <a:spLocks noGrp="1"/>
          </p:cNvSpPr>
          <p:nvPr>
            <p:ph type="title"/>
          </p:nvPr>
        </p:nvSpPr>
        <p:spPr>
          <a:xfrm>
            <a:off x="6094409" y="835015"/>
            <a:ext cx="3179593" cy="3215821"/>
          </a:xfrm>
        </p:spPr>
        <p:txBody>
          <a:bodyPr vert="horz" lIns="91440" tIns="45720" rIns="91440" bIns="45720" rtlCol="0" anchor="b">
            <a:normAutofit/>
          </a:bodyPr>
          <a:lstStyle/>
          <a:p>
            <a:pPr algn="r">
              <a:lnSpc>
                <a:spcPct val="90000"/>
              </a:lnSpc>
            </a:pPr>
            <a:r>
              <a:rPr lang="en-US" sz="2200" dirty="0" err="1"/>
              <a:t>Gaußsches</a:t>
            </a:r>
            <a:r>
              <a:rPr lang="en-US" sz="2200" dirty="0"/>
              <a:t> </a:t>
            </a:r>
            <a:r>
              <a:rPr lang="en-US" sz="2200" dirty="0" err="1"/>
              <a:t>Eliminationsverfahren</a:t>
            </a:r>
            <a:r>
              <a:rPr lang="en-US" sz="2200" dirty="0"/>
              <a:t> Schritt für Schritt I	</a:t>
            </a:r>
          </a:p>
        </p:txBody>
      </p:sp>
      <p:sp>
        <p:nvSpPr>
          <p:cNvPr id="3" name="Inhaltsplatzhalter 2">
            <a:extLst>
              <a:ext uri="{FF2B5EF4-FFF2-40B4-BE49-F238E27FC236}">
                <a16:creationId xmlns:a16="http://schemas.microsoft.com/office/drawing/2014/main" id="{4CFBC9A5-4DFB-EE9E-CFD2-816A3381C182}"/>
              </a:ext>
            </a:extLst>
          </p:cNvPr>
          <p:cNvSpPr>
            <a:spLocks noGrp="1"/>
          </p:cNvSpPr>
          <p:nvPr>
            <p:ph idx="1"/>
          </p:nvPr>
        </p:nvSpPr>
        <p:spPr>
          <a:xfrm>
            <a:off x="5880790" y="4011627"/>
            <a:ext cx="3445278" cy="2424612"/>
          </a:xfrm>
        </p:spPr>
        <p:txBody>
          <a:bodyPr vert="horz" lIns="91440" tIns="45720" rIns="91440" bIns="45720" rtlCol="0" anchor="t">
            <a:normAutofit/>
          </a:bodyPr>
          <a:lstStyle/>
          <a:p>
            <a:pPr marL="0" indent="0" algn="r">
              <a:buNone/>
            </a:pPr>
            <a:r>
              <a:rPr lang="en-US" dirty="0">
                <a:solidFill>
                  <a:schemeClr val="tx1">
                    <a:lumMod val="50000"/>
                    <a:lumOff val="50000"/>
                  </a:schemeClr>
                </a:solidFill>
              </a:rPr>
              <a:t>Als </a:t>
            </a:r>
            <a:r>
              <a:rPr lang="en-US" dirty="0" err="1">
                <a:solidFill>
                  <a:schemeClr val="tx1">
                    <a:lumMod val="50000"/>
                    <a:lumOff val="50000"/>
                  </a:schemeClr>
                </a:solidFill>
              </a:rPr>
              <a:t>erstes</a:t>
            </a:r>
            <a:r>
              <a:rPr lang="en-US" dirty="0">
                <a:solidFill>
                  <a:schemeClr val="tx1">
                    <a:lumMod val="50000"/>
                    <a:lumOff val="50000"/>
                  </a:schemeClr>
                </a:solidFill>
              </a:rPr>
              <a:t> </a:t>
            </a:r>
            <a:r>
              <a:rPr lang="en-US" dirty="0" err="1">
                <a:solidFill>
                  <a:schemeClr val="tx1">
                    <a:lumMod val="50000"/>
                    <a:lumOff val="50000"/>
                  </a:schemeClr>
                </a:solidFill>
              </a:rPr>
              <a:t>formen</a:t>
            </a:r>
            <a:r>
              <a:rPr lang="en-US" dirty="0">
                <a:solidFill>
                  <a:schemeClr val="tx1">
                    <a:lumMod val="50000"/>
                    <a:lumOff val="50000"/>
                  </a:schemeClr>
                </a:solidFill>
              </a:rPr>
              <a:t> </a:t>
            </a:r>
            <a:r>
              <a:rPr lang="en-US" dirty="0" err="1">
                <a:solidFill>
                  <a:schemeClr val="tx1">
                    <a:lumMod val="50000"/>
                    <a:lumOff val="50000"/>
                  </a:schemeClr>
                </a:solidFill>
              </a:rPr>
              <a:t>wir</a:t>
            </a:r>
            <a:r>
              <a:rPr lang="en-US" dirty="0">
                <a:solidFill>
                  <a:schemeClr val="tx1">
                    <a:lumMod val="50000"/>
                    <a:lumOff val="50000"/>
                  </a:schemeClr>
                </a:solidFill>
              </a:rPr>
              <a:t> das </a:t>
            </a:r>
            <a:r>
              <a:rPr lang="en-US" dirty="0" err="1">
                <a:solidFill>
                  <a:schemeClr val="tx1">
                    <a:lumMod val="50000"/>
                    <a:lumOff val="50000"/>
                  </a:schemeClr>
                </a:solidFill>
              </a:rPr>
              <a:t>Gleichungssystem</a:t>
            </a:r>
            <a:r>
              <a:rPr lang="en-US" dirty="0">
                <a:solidFill>
                  <a:schemeClr val="tx1">
                    <a:lumMod val="50000"/>
                    <a:lumOff val="50000"/>
                  </a:schemeClr>
                </a:solidFill>
              </a:rPr>
              <a:t> auf </a:t>
            </a:r>
            <a:r>
              <a:rPr lang="en-US" dirty="0" err="1">
                <a:solidFill>
                  <a:schemeClr val="tx1">
                    <a:lumMod val="50000"/>
                    <a:lumOff val="50000"/>
                  </a:schemeClr>
                </a:solidFill>
              </a:rPr>
              <a:t>Matrixschreibweise</a:t>
            </a:r>
            <a:r>
              <a:rPr lang="en-US" dirty="0">
                <a:solidFill>
                  <a:schemeClr val="tx1">
                    <a:lumMod val="50000"/>
                    <a:lumOff val="50000"/>
                  </a:schemeClr>
                </a:solidFill>
              </a:rPr>
              <a:t> um, </a:t>
            </a:r>
            <a:r>
              <a:rPr lang="en-US" dirty="0" err="1">
                <a:solidFill>
                  <a:schemeClr val="tx1">
                    <a:lumMod val="50000"/>
                    <a:lumOff val="50000"/>
                  </a:schemeClr>
                </a:solidFill>
              </a:rPr>
              <a:t>wie</a:t>
            </a:r>
            <a:r>
              <a:rPr lang="en-US" dirty="0">
                <a:solidFill>
                  <a:schemeClr val="tx1">
                    <a:lumMod val="50000"/>
                    <a:lumOff val="50000"/>
                  </a:schemeClr>
                </a:solidFill>
              </a:rPr>
              <a:t> </a:t>
            </a:r>
            <a:r>
              <a:rPr lang="en-US" dirty="0" err="1">
                <a:solidFill>
                  <a:schemeClr val="tx1">
                    <a:lumMod val="50000"/>
                    <a:lumOff val="50000"/>
                  </a:schemeClr>
                </a:solidFill>
              </a:rPr>
              <a:t>im</a:t>
            </a:r>
            <a:r>
              <a:rPr lang="en-US" dirty="0">
                <a:solidFill>
                  <a:schemeClr val="tx1">
                    <a:lumMod val="50000"/>
                    <a:lumOff val="50000"/>
                  </a:schemeClr>
                </a:solidFill>
              </a:rPr>
              <a:t> </a:t>
            </a:r>
            <a:r>
              <a:rPr lang="en-US" dirty="0" err="1">
                <a:solidFill>
                  <a:schemeClr val="tx1">
                    <a:lumMod val="50000"/>
                    <a:lumOff val="50000"/>
                  </a:schemeClr>
                </a:solidFill>
              </a:rPr>
              <a:t>Matheunterricht</a:t>
            </a:r>
            <a:r>
              <a:rPr lang="en-US" dirty="0">
                <a:solidFill>
                  <a:schemeClr val="tx1">
                    <a:lumMod val="50000"/>
                    <a:lumOff val="50000"/>
                  </a:schemeClr>
                </a:solidFill>
              </a:rPr>
              <a:t> </a:t>
            </a:r>
            <a:r>
              <a:rPr lang="en-US" dirty="0" err="1">
                <a:solidFill>
                  <a:schemeClr val="tx1">
                    <a:lumMod val="50000"/>
                    <a:lumOff val="50000"/>
                  </a:schemeClr>
                </a:solidFill>
              </a:rPr>
              <a:t>bereits</a:t>
            </a:r>
            <a:r>
              <a:rPr lang="en-US" dirty="0">
                <a:solidFill>
                  <a:schemeClr val="tx1">
                    <a:lumMod val="50000"/>
                    <a:lumOff val="50000"/>
                  </a:schemeClr>
                </a:solidFill>
              </a:rPr>
              <a:t> </a:t>
            </a:r>
            <a:r>
              <a:rPr lang="en-US" dirty="0" err="1">
                <a:solidFill>
                  <a:schemeClr val="tx1">
                    <a:lumMod val="50000"/>
                    <a:lumOff val="50000"/>
                  </a:schemeClr>
                </a:solidFill>
              </a:rPr>
              <a:t>gelernt</a:t>
            </a:r>
            <a:r>
              <a:rPr lang="en-US" dirty="0">
                <a:solidFill>
                  <a:schemeClr val="tx1">
                    <a:lumMod val="50000"/>
                    <a:lumOff val="50000"/>
                  </a:schemeClr>
                </a:solidFill>
              </a:rPr>
              <a:t>.</a:t>
            </a:r>
          </a:p>
          <a:p>
            <a:pPr marL="0" indent="0" algn="r">
              <a:buNone/>
            </a:pPr>
            <a:r>
              <a:rPr lang="en-US" dirty="0" err="1">
                <a:solidFill>
                  <a:schemeClr val="tx1">
                    <a:lumMod val="50000"/>
                    <a:lumOff val="50000"/>
                  </a:schemeClr>
                </a:solidFill>
              </a:rPr>
              <a:t>Wenn</a:t>
            </a:r>
            <a:r>
              <a:rPr lang="en-US" dirty="0">
                <a:solidFill>
                  <a:schemeClr val="tx1">
                    <a:lumMod val="50000"/>
                    <a:lumOff val="50000"/>
                  </a:schemeClr>
                </a:solidFill>
              </a:rPr>
              <a:t> </a:t>
            </a:r>
            <a:r>
              <a:rPr lang="en-US" dirty="0" err="1">
                <a:solidFill>
                  <a:schemeClr val="tx1">
                    <a:lumMod val="50000"/>
                    <a:lumOff val="50000"/>
                  </a:schemeClr>
                </a:solidFill>
              </a:rPr>
              <a:t>keine</a:t>
            </a:r>
            <a:r>
              <a:rPr lang="en-US" dirty="0">
                <a:solidFill>
                  <a:schemeClr val="tx1">
                    <a:lumMod val="50000"/>
                    <a:lumOff val="50000"/>
                  </a:schemeClr>
                </a:solidFill>
              </a:rPr>
              <a:t> </a:t>
            </a:r>
            <a:r>
              <a:rPr lang="en-US" dirty="0" err="1">
                <a:solidFill>
                  <a:schemeClr val="tx1">
                    <a:lumMod val="50000"/>
                    <a:lumOff val="50000"/>
                  </a:schemeClr>
                </a:solidFill>
              </a:rPr>
              <a:t>Zahl</a:t>
            </a:r>
            <a:r>
              <a:rPr lang="en-US" dirty="0">
                <a:solidFill>
                  <a:schemeClr val="tx1">
                    <a:lumMod val="50000"/>
                    <a:lumOff val="50000"/>
                  </a:schemeClr>
                </a:solidFill>
              </a:rPr>
              <a:t> </a:t>
            </a:r>
            <a:r>
              <a:rPr lang="en-US" dirty="0" err="1">
                <a:solidFill>
                  <a:schemeClr val="tx1">
                    <a:lumMod val="50000"/>
                    <a:lumOff val="50000"/>
                  </a:schemeClr>
                </a:solidFill>
              </a:rPr>
              <a:t>vor</a:t>
            </a:r>
            <a:r>
              <a:rPr lang="en-US" dirty="0">
                <a:solidFill>
                  <a:schemeClr val="tx1">
                    <a:lumMod val="50000"/>
                    <a:lumOff val="50000"/>
                  </a:schemeClr>
                </a:solidFill>
              </a:rPr>
              <a:t> der Variable </a:t>
            </a:r>
            <a:r>
              <a:rPr lang="en-US" dirty="0" err="1">
                <a:solidFill>
                  <a:schemeClr val="tx1">
                    <a:lumMod val="50000"/>
                    <a:lumOff val="50000"/>
                  </a:schemeClr>
                </a:solidFill>
              </a:rPr>
              <a:t>steht</a:t>
            </a:r>
            <a:r>
              <a:rPr lang="en-US" dirty="0">
                <a:solidFill>
                  <a:schemeClr val="tx1">
                    <a:lumMod val="50000"/>
                    <a:lumOff val="50000"/>
                  </a:schemeClr>
                </a:solidFill>
              </a:rPr>
              <a:t> -&gt; 1, </a:t>
            </a:r>
            <a:r>
              <a:rPr lang="en-US" dirty="0" err="1">
                <a:solidFill>
                  <a:schemeClr val="tx1">
                    <a:lumMod val="50000"/>
                    <a:lumOff val="50000"/>
                  </a:schemeClr>
                </a:solidFill>
              </a:rPr>
              <a:t>ansonsten</a:t>
            </a:r>
            <a:r>
              <a:rPr lang="en-US" dirty="0">
                <a:solidFill>
                  <a:schemeClr val="tx1">
                    <a:lumMod val="50000"/>
                    <a:lumOff val="50000"/>
                  </a:schemeClr>
                </a:solidFill>
              </a:rPr>
              <a:t> </a:t>
            </a:r>
            <a:r>
              <a:rPr lang="en-US" dirty="0" err="1">
                <a:solidFill>
                  <a:schemeClr val="tx1">
                    <a:lumMod val="50000"/>
                    <a:lumOff val="50000"/>
                  </a:schemeClr>
                </a:solidFill>
              </a:rPr>
              <a:t>immer</a:t>
            </a:r>
            <a:r>
              <a:rPr lang="en-US" dirty="0">
                <a:solidFill>
                  <a:schemeClr val="tx1">
                    <a:lumMod val="50000"/>
                    <a:lumOff val="50000"/>
                  </a:schemeClr>
                </a:solidFill>
              </a:rPr>
              <a:t> die </a:t>
            </a:r>
            <a:r>
              <a:rPr lang="en-US" dirty="0" err="1">
                <a:solidFill>
                  <a:schemeClr val="tx1">
                    <a:lumMod val="50000"/>
                    <a:lumOff val="50000"/>
                  </a:schemeClr>
                </a:solidFill>
              </a:rPr>
              <a:t>Zahl</a:t>
            </a:r>
            <a:r>
              <a:rPr lang="en-US" dirty="0">
                <a:solidFill>
                  <a:schemeClr val="tx1">
                    <a:lumMod val="50000"/>
                    <a:lumOff val="50000"/>
                  </a:schemeClr>
                </a:solidFill>
              </a:rPr>
              <a:t> </a:t>
            </a:r>
            <a:r>
              <a:rPr lang="en-US" dirty="0" err="1">
                <a:solidFill>
                  <a:schemeClr val="tx1">
                    <a:lumMod val="50000"/>
                    <a:lumOff val="50000"/>
                  </a:schemeClr>
                </a:solidFill>
              </a:rPr>
              <a:t>angeben</a:t>
            </a:r>
            <a:endParaRPr lang="en-US" dirty="0">
              <a:solidFill>
                <a:schemeClr val="tx1">
                  <a:lumMod val="50000"/>
                  <a:lumOff val="50000"/>
                </a:schemeClr>
              </a:solidFill>
            </a:endParaRPr>
          </a:p>
        </p:txBody>
      </p:sp>
      <p:pic>
        <p:nvPicPr>
          <p:cNvPr id="5" name="Grafik 4">
            <a:extLst>
              <a:ext uri="{FF2B5EF4-FFF2-40B4-BE49-F238E27FC236}">
                <a16:creationId xmlns:a16="http://schemas.microsoft.com/office/drawing/2014/main" id="{0BA69C2A-AF1F-F4D5-340B-B0490016E07B}"/>
              </a:ext>
            </a:extLst>
          </p:cNvPr>
          <p:cNvPicPr>
            <a:picLocks noChangeAspect="1"/>
          </p:cNvPicPr>
          <p:nvPr/>
        </p:nvPicPr>
        <p:blipFill>
          <a:blip r:embed="rId2"/>
          <a:stretch>
            <a:fillRect/>
          </a:stretch>
        </p:blipFill>
        <p:spPr>
          <a:xfrm>
            <a:off x="887872" y="1144935"/>
            <a:ext cx="4977562" cy="2367378"/>
          </a:xfrm>
          <a:prstGeom prst="rect">
            <a:avLst/>
          </a:prstGeom>
        </p:spPr>
      </p:pic>
      <p:pic>
        <p:nvPicPr>
          <p:cNvPr id="7" name="Grafik 6">
            <a:extLst>
              <a:ext uri="{FF2B5EF4-FFF2-40B4-BE49-F238E27FC236}">
                <a16:creationId xmlns:a16="http://schemas.microsoft.com/office/drawing/2014/main" id="{2248943A-6696-87AF-DCD1-C6142017E023}"/>
              </a:ext>
            </a:extLst>
          </p:cNvPr>
          <p:cNvPicPr>
            <a:picLocks noChangeAspect="1"/>
          </p:cNvPicPr>
          <p:nvPr/>
        </p:nvPicPr>
        <p:blipFill>
          <a:blip r:embed="rId3"/>
          <a:stretch>
            <a:fillRect/>
          </a:stretch>
        </p:blipFill>
        <p:spPr>
          <a:xfrm>
            <a:off x="910492" y="4050833"/>
            <a:ext cx="4933786" cy="1990528"/>
          </a:xfrm>
          <a:prstGeom prst="rect">
            <a:avLst/>
          </a:prstGeom>
        </p:spPr>
      </p:pic>
    </p:spTree>
    <p:extLst>
      <p:ext uri="{BB962C8B-B14F-4D97-AF65-F5344CB8AC3E}">
        <p14:creationId xmlns:p14="http://schemas.microsoft.com/office/powerpoint/2010/main" val="12826042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C92548-D3C5-7B79-AA6A-B234B421288F}"/>
              </a:ext>
            </a:extLst>
          </p:cNvPr>
          <p:cNvSpPr>
            <a:spLocks noGrp="1"/>
          </p:cNvSpPr>
          <p:nvPr>
            <p:ph type="title"/>
          </p:nvPr>
        </p:nvSpPr>
        <p:spPr>
          <a:xfrm>
            <a:off x="677334" y="609600"/>
            <a:ext cx="8596668" cy="1320800"/>
          </a:xfrm>
        </p:spPr>
        <p:txBody>
          <a:bodyPr>
            <a:normAutofit/>
          </a:bodyPr>
          <a:lstStyle/>
          <a:p>
            <a:r>
              <a:rPr lang="en-US" dirty="0" err="1"/>
              <a:t>Gaußsches</a:t>
            </a:r>
            <a:r>
              <a:rPr lang="en-US" dirty="0"/>
              <a:t> </a:t>
            </a:r>
            <a:r>
              <a:rPr lang="en-US" dirty="0" err="1"/>
              <a:t>Eliminationsverfahren</a:t>
            </a:r>
            <a:r>
              <a:rPr lang="en-US" dirty="0"/>
              <a:t> Schritt für Schritt II	</a:t>
            </a:r>
            <a:endParaRPr lang="de-AT" dirty="0"/>
          </a:p>
        </p:txBody>
      </p:sp>
      <p:pic>
        <p:nvPicPr>
          <p:cNvPr id="7" name="Grafik 6">
            <a:extLst>
              <a:ext uri="{FF2B5EF4-FFF2-40B4-BE49-F238E27FC236}">
                <a16:creationId xmlns:a16="http://schemas.microsoft.com/office/drawing/2014/main" id="{55022DBF-F131-93E2-8CF7-98E0EDC2C2C9}"/>
              </a:ext>
            </a:extLst>
          </p:cNvPr>
          <p:cNvPicPr>
            <a:picLocks noChangeAspect="1"/>
          </p:cNvPicPr>
          <p:nvPr/>
        </p:nvPicPr>
        <p:blipFill>
          <a:blip r:embed="rId2"/>
          <a:stretch>
            <a:fillRect/>
          </a:stretch>
        </p:blipFill>
        <p:spPr>
          <a:xfrm>
            <a:off x="1038289" y="2159663"/>
            <a:ext cx="3222636" cy="1826549"/>
          </a:xfrm>
          <a:prstGeom prst="rect">
            <a:avLst/>
          </a:prstGeom>
        </p:spPr>
      </p:pic>
      <p:sp>
        <p:nvSpPr>
          <p:cNvPr id="3" name="Inhaltsplatzhalter 2">
            <a:extLst>
              <a:ext uri="{FF2B5EF4-FFF2-40B4-BE49-F238E27FC236}">
                <a16:creationId xmlns:a16="http://schemas.microsoft.com/office/drawing/2014/main" id="{8BCC366E-3A23-6301-C308-7BCEA8C04FD7}"/>
              </a:ext>
            </a:extLst>
          </p:cNvPr>
          <p:cNvSpPr>
            <a:spLocks noGrp="1"/>
          </p:cNvSpPr>
          <p:nvPr>
            <p:ph idx="1"/>
          </p:nvPr>
        </p:nvSpPr>
        <p:spPr>
          <a:xfrm>
            <a:off x="4863283" y="2160589"/>
            <a:ext cx="4410718" cy="3880773"/>
          </a:xfrm>
        </p:spPr>
        <p:txBody>
          <a:bodyPr>
            <a:normAutofit/>
          </a:bodyPr>
          <a:lstStyle/>
          <a:p>
            <a:r>
              <a:rPr lang="de-DE"/>
              <a:t>Ziel: Die eingekreisten Felder (die unter der </a:t>
            </a:r>
            <a:r>
              <a:rPr lang="de-AT">
                <a:effectLst/>
                <a:latin typeface="Calibri" panose="020F0502020204030204" pitchFamily="34" charset="0"/>
                <a:ea typeface="Calibri" panose="020F0502020204030204" pitchFamily="34" charset="0"/>
                <a:cs typeface="Times New Roman" panose="02020603050405020304" pitchFamily="18" charset="0"/>
              </a:rPr>
              <a:t>Hauptdiagonalen) null ergeben (hier kümmern wir uns um die 1. Spalte) -&gt; Zeilenumformung / -verschiebung</a:t>
            </a:r>
          </a:p>
          <a:p>
            <a:r>
              <a:rPr lang="de-AT">
                <a:latin typeface="Calibri" panose="020F0502020204030204" pitchFamily="34" charset="0"/>
                <a:cs typeface="Times New Roman" panose="02020603050405020304" pitchFamily="18" charset="0"/>
              </a:rPr>
              <a:t>Daher rechnen wir die 2. Zeile mal 2 und subtrahieren die 1.</a:t>
            </a:r>
          </a:p>
          <a:p>
            <a:r>
              <a:rPr lang="de-AT">
                <a:latin typeface="Calibri" panose="020F0502020204030204" pitchFamily="34" charset="0"/>
                <a:cs typeface="Times New Roman" panose="02020603050405020304" pitchFamily="18" charset="0"/>
              </a:rPr>
              <a:t>Und bei der 3. Zeile addieren wir einfach die 2. rauf. Die Veränderung davor ist für diese hierbei nicht von belangen, das ist aber egal, da wir die 1. nicht anfassen.</a:t>
            </a:r>
          </a:p>
        </p:txBody>
      </p:sp>
      <p:pic>
        <p:nvPicPr>
          <p:cNvPr id="11" name="Grafik 10">
            <a:extLst>
              <a:ext uri="{FF2B5EF4-FFF2-40B4-BE49-F238E27FC236}">
                <a16:creationId xmlns:a16="http://schemas.microsoft.com/office/drawing/2014/main" id="{1D2D4252-BB6E-A40A-794D-512E5641E43D}"/>
              </a:ext>
            </a:extLst>
          </p:cNvPr>
          <p:cNvPicPr>
            <a:picLocks noChangeAspect="1"/>
          </p:cNvPicPr>
          <p:nvPr/>
        </p:nvPicPr>
        <p:blipFill>
          <a:blip r:embed="rId3"/>
          <a:stretch>
            <a:fillRect/>
          </a:stretch>
        </p:blipFill>
        <p:spPr>
          <a:xfrm>
            <a:off x="677334" y="4725083"/>
            <a:ext cx="3944549" cy="806007"/>
          </a:xfrm>
          <a:prstGeom prst="rect">
            <a:avLst/>
          </a:prstGeom>
        </p:spPr>
      </p:pic>
    </p:spTree>
    <p:extLst>
      <p:ext uri="{BB962C8B-B14F-4D97-AF65-F5344CB8AC3E}">
        <p14:creationId xmlns:p14="http://schemas.microsoft.com/office/powerpoint/2010/main" val="3447720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C83EA0-6809-798C-7DC1-4220EF456EF6}"/>
              </a:ext>
            </a:extLst>
          </p:cNvPr>
          <p:cNvSpPr>
            <a:spLocks noGrp="1"/>
          </p:cNvSpPr>
          <p:nvPr>
            <p:ph type="title"/>
          </p:nvPr>
        </p:nvSpPr>
        <p:spPr>
          <a:xfrm>
            <a:off x="677334" y="609600"/>
            <a:ext cx="8596668" cy="1320800"/>
          </a:xfrm>
        </p:spPr>
        <p:txBody>
          <a:bodyPr>
            <a:normAutofit/>
          </a:bodyPr>
          <a:lstStyle/>
          <a:p>
            <a:r>
              <a:rPr lang="en-US" dirty="0" err="1"/>
              <a:t>Gaußsches</a:t>
            </a:r>
            <a:r>
              <a:rPr lang="en-US" dirty="0"/>
              <a:t> </a:t>
            </a:r>
            <a:r>
              <a:rPr lang="en-US" dirty="0" err="1"/>
              <a:t>Eliminationsverfahren</a:t>
            </a:r>
            <a:r>
              <a:rPr lang="en-US" dirty="0"/>
              <a:t> Schritt für Schritt III</a:t>
            </a:r>
            <a:endParaRPr lang="de-AT" dirty="0"/>
          </a:p>
        </p:txBody>
      </p:sp>
      <p:pic>
        <p:nvPicPr>
          <p:cNvPr id="5" name="Grafik 4">
            <a:extLst>
              <a:ext uri="{FF2B5EF4-FFF2-40B4-BE49-F238E27FC236}">
                <a16:creationId xmlns:a16="http://schemas.microsoft.com/office/drawing/2014/main" id="{0064EF78-8079-D1B3-9D94-50E2DC87D734}"/>
              </a:ext>
            </a:extLst>
          </p:cNvPr>
          <p:cNvPicPr>
            <a:picLocks noChangeAspect="1"/>
          </p:cNvPicPr>
          <p:nvPr/>
        </p:nvPicPr>
        <p:blipFill>
          <a:blip r:embed="rId2"/>
          <a:stretch>
            <a:fillRect/>
          </a:stretch>
        </p:blipFill>
        <p:spPr>
          <a:xfrm>
            <a:off x="1064808" y="2159663"/>
            <a:ext cx="3169599" cy="1826549"/>
          </a:xfrm>
          <a:prstGeom prst="rect">
            <a:avLst/>
          </a:prstGeom>
        </p:spPr>
      </p:pic>
      <p:sp>
        <p:nvSpPr>
          <p:cNvPr id="3" name="Inhaltsplatzhalter 2">
            <a:extLst>
              <a:ext uri="{FF2B5EF4-FFF2-40B4-BE49-F238E27FC236}">
                <a16:creationId xmlns:a16="http://schemas.microsoft.com/office/drawing/2014/main" id="{B1A109CC-624A-36F2-C42A-849324DD8B69}"/>
              </a:ext>
            </a:extLst>
          </p:cNvPr>
          <p:cNvSpPr>
            <a:spLocks noGrp="1"/>
          </p:cNvSpPr>
          <p:nvPr>
            <p:ph idx="1"/>
          </p:nvPr>
        </p:nvSpPr>
        <p:spPr>
          <a:xfrm>
            <a:off x="4863283" y="2160589"/>
            <a:ext cx="4410718" cy="3880773"/>
          </a:xfrm>
        </p:spPr>
        <p:txBody>
          <a:bodyPr>
            <a:normAutofit lnSpcReduction="10000"/>
          </a:bodyPr>
          <a:lstStyle/>
          <a:p>
            <a:r>
              <a:rPr lang="de-DE" dirty="0"/>
              <a:t>daher haben wir jetzt folgende Matrix -&gt; wir formen das ganze nochmal in ein lineares Gleichungssystem um, dies funktioniert genau wie beim in die Matrix umformen -&gt; erläutere ich es jetzt nicht genauer</a:t>
            </a:r>
          </a:p>
          <a:p>
            <a:endParaRPr lang="de-DE" dirty="0"/>
          </a:p>
          <a:p>
            <a:r>
              <a:rPr lang="de-DE" dirty="0"/>
              <a:t>jetzt versuchen wir uns, weil wir schon alle gebrauchte 0 haben, uns (eine) Variable(n) auszurechnen -&gt; wir können Z ganz einfach ausrechnen</a:t>
            </a:r>
          </a:p>
        </p:txBody>
      </p:sp>
      <p:pic>
        <p:nvPicPr>
          <p:cNvPr id="7" name="Grafik 6">
            <a:extLst>
              <a:ext uri="{FF2B5EF4-FFF2-40B4-BE49-F238E27FC236}">
                <a16:creationId xmlns:a16="http://schemas.microsoft.com/office/drawing/2014/main" id="{AD924CA9-E5AF-ED86-BC52-D240D4658715}"/>
              </a:ext>
            </a:extLst>
          </p:cNvPr>
          <p:cNvPicPr>
            <a:picLocks noChangeAspect="1"/>
          </p:cNvPicPr>
          <p:nvPr/>
        </p:nvPicPr>
        <p:blipFill>
          <a:blip r:embed="rId3"/>
          <a:stretch>
            <a:fillRect/>
          </a:stretch>
        </p:blipFill>
        <p:spPr>
          <a:xfrm>
            <a:off x="677334" y="4249213"/>
            <a:ext cx="3944549" cy="1757746"/>
          </a:xfrm>
          <a:prstGeom prst="rect">
            <a:avLst/>
          </a:prstGeom>
        </p:spPr>
      </p:pic>
    </p:spTree>
    <p:extLst>
      <p:ext uri="{BB962C8B-B14F-4D97-AF65-F5344CB8AC3E}">
        <p14:creationId xmlns:p14="http://schemas.microsoft.com/office/powerpoint/2010/main" val="98043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08725B-A3D4-EA91-BD12-1F980EF435F8}"/>
              </a:ext>
            </a:extLst>
          </p:cNvPr>
          <p:cNvSpPr>
            <a:spLocks noGrp="1"/>
          </p:cNvSpPr>
          <p:nvPr>
            <p:ph type="title"/>
          </p:nvPr>
        </p:nvSpPr>
        <p:spPr/>
        <p:txBody>
          <a:bodyPr/>
          <a:lstStyle/>
          <a:p>
            <a:r>
              <a:rPr lang="en-US" dirty="0" err="1"/>
              <a:t>Gaußsches</a:t>
            </a:r>
            <a:r>
              <a:rPr lang="en-US" dirty="0"/>
              <a:t> </a:t>
            </a:r>
            <a:r>
              <a:rPr lang="en-US" dirty="0" err="1"/>
              <a:t>Eliminationsverfahren</a:t>
            </a:r>
            <a:r>
              <a:rPr lang="en-US" dirty="0"/>
              <a:t> Schritt für Schritt IV</a:t>
            </a:r>
            <a:endParaRPr lang="de-AT" dirty="0"/>
          </a:p>
        </p:txBody>
      </p:sp>
      <p:sp>
        <p:nvSpPr>
          <p:cNvPr id="3" name="Inhaltsplatzhalter 2">
            <a:extLst>
              <a:ext uri="{FF2B5EF4-FFF2-40B4-BE49-F238E27FC236}">
                <a16:creationId xmlns:a16="http://schemas.microsoft.com/office/drawing/2014/main" id="{6F7FF694-EF2A-AB86-1633-865185C23FF6}"/>
              </a:ext>
            </a:extLst>
          </p:cNvPr>
          <p:cNvSpPr>
            <a:spLocks noGrp="1"/>
          </p:cNvSpPr>
          <p:nvPr>
            <p:ph idx="1"/>
          </p:nvPr>
        </p:nvSpPr>
        <p:spPr/>
        <p:txBody>
          <a:bodyPr/>
          <a:lstStyle/>
          <a:p>
            <a:r>
              <a:rPr lang="de-DE" dirty="0"/>
              <a:t>da wir jetzt z haben -&gt; und in der 2. Gleichung y und z da sind, können wir für z einsetzen und uns y errechnen. -&gt; y = 4. Mit dieser Erkenntnis können wir jetzt noch x ausrechnen und erhalten sind danach fertig. </a:t>
            </a:r>
          </a:p>
          <a:p>
            <a:endParaRPr lang="de-DE" dirty="0"/>
          </a:p>
          <a:p>
            <a:endParaRPr lang="de-DE" dirty="0"/>
          </a:p>
          <a:p>
            <a:endParaRPr lang="de-DE" dirty="0"/>
          </a:p>
          <a:p>
            <a:endParaRPr lang="de-DE" dirty="0"/>
          </a:p>
          <a:p>
            <a:endParaRPr lang="de-DE" dirty="0"/>
          </a:p>
          <a:p>
            <a:r>
              <a:rPr lang="de-DE" dirty="0"/>
              <a:t>-&gt; 2x +4y – 1z = 1 -&gt; 2x +15 = 1 -&gt; x = -7</a:t>
            </a:r>
            <a:endParaRPr lang="de-AT" dirty="0"/>
          </a:p>
        </p:txBody>
      </p:sp>
      <p:pic>
        <p:nvPicPr>
          <p:cNvPr id="5" name="Grafik 4">
            <a:extLst>
              <a:ext uri="{FF2B5EF4-FFF2-40B4-BE49-F238E27FC236}">
                <a16:creationId xmlns:a16="http://schemas.microsoft.com/office/drawing/2014/main" id="{8721B7EB-021B-B836-A1C6-35445A862807}"/>
              </a:ext>
            </a:extLst>
          </p:cNvPr>
          <p:cNvPicPr>
            <a:picLocks noChangeAspect="1"/>
          </p:cNvPicPr>
          <p:nvPr/>
        </p:nvPicPr>
        <p:blipFill>
          <a:blip r:embed="rId2"/>
          <a:stretch>
            <a:fillRect/>
          </a:stretch>
        </p:blipFill>
        <p:spPr>
          <a:xfrm>
            <a:off x="770330" y="3146122"/>
            <a:ext cx="3830384" cy="1547175"/>
          </a:xfrm>
          <a:prstGeom prst="rect">
            <a:avLst/>
          </a:prstGeom>
        </p:spPr>
      </p:pic>
    </p:spTree>
    <p:extLst>
      <p:ext uri="{BB962C8B-B14F-4D97-AF65-F5344CB8AC3E}">
        <p14:creationId xmlns:p14="http://schemas.microsoft.com/office/powerpoint/2010/main" val="163714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B4DE830A-B531-4A3B-96F6-0ECE88B0855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2813DF2C-461A-4A8F-9679-A172790D1F3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54CD3A85-C039-4249-86E4-1EB9318B549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887EA6D2-2883-42C2-993D-094CA6D65D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Rectangle 25">
              <a:extLst>
                <a:ext uri="{FF2B5EF4-FFF2-40B4-BE49-F238E27FC236}">
                  <a16:creationId xmlns:a16="http://schemas.microsoft.com/office/drawing/2014/main" id="{3B895046-636F-4D1B-ACA4-29AA0CB332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Isosceles Triangle 14">
              <a:extLst>
                <a:ext uri="{FF2B5EF4-FFF2-40B4-BE49-F238E27FC236}">
                  <a16:creationId xmlns:a16="http://schemas.microsoft.com/office/drawing/2014/main" id="{C6B0CDE3-E054-4EDD-A43B-F96843D8B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7">
              <a:extLst>
                <a:ext uri="{FF2B5EF4-FFF2-40B4-BE49-F238E27FC236}">
                  <a16:creationId xmlns:a16="http://schemas.microsoft.com/office/drawing/2014/main" id="{3B66B1A2-F145-4C9B-85CC-4BF30D58CB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8">
              <a:extLst>
                <a:ext uri="{FF2B5EF4-FFF2-40B4-BE49-F238E27FC236}">
                  <a16:creationId xmlns:a16="http://schemas.microsoft.com/office/drawing/2014/main" id="{5D4FC972-94B3-4035-8D31-E668C132B4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Rectangle 29">
              <a:extLst>
                <a:ext uri="{FF2B5EF4-FFF2-40B4-BE49-F238E27FC236}">
                  <a16:creationId xmlns:a16="http://schemas.microsoft.com/office/drawing/2014/main" id="{374B9941-AFBE-4A77-A50E-B6EA04A746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a:extLst>
                <a:ext uri="{FF2B5EF4-FFF2-40B4-BE49-F238E27FC236}">
                  <a16:creationId xmlns:a16="http://schemas.microsoft.com/office/drawing/2014/main" id="{27A982C5-2C38-4CE9-BC18-94697AD657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Isosceles Triangle 19">
              <a:extLst>
                <a:ext uri="{FF2B5EF4-FFF2-40B4-BE49-F238E27FC236}">
                  <a16:creationId xmlns:a16="http://schemas.microsoft.com/office/drawing/2014/main" id="{0060D8D1-7BB1-498F-AFBB-ADAC130A9E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el 1">
            <a:extLst>
              <a:ext uri="{FF2B5EF4-FFF2-40B4-BE49-F238E27FC236}">
                <a16:creationId xmlns:a16="http://schemas.microsoft.com/office/drawing/2014/main" id="{90DA0758-7339-E193-6B17-D0D1E2A41B4B}"/>
              </a:ext>
            </a:extLst>
          </p:cNvPr>
          <p:cNvSpPr>
            <a:spLocks noGrp="1"/>
          </p:cNvSpPr>
          <p:nvPr>
            <p:ph type="title"/>
          </p:nvPr>
        </p:nvSpPr>
        <p:spPr>
          <a:xfrm>
            <a:off x="985969" y="4553712"/>
            <a:ext cx="8288032" cy="1096316"/>
          </a:xfrm>
        </p:spPr>
        <p:txBody>
          <a:bodyPr vert="horz" lIns="91440" tIns="45720" rIns="91440" bIns="45720" rtlCol="0" anchor="b">
            <a:normAutofit/>
          </a:bodyPr>
          <a:lstStyle/>
          <a:p>
            <a:pPr algn="ctr"/>
            <a:r>
              <a:rPr lang="en-US" sz="4800" kern="1200">
                <a:solidFill>
                  <a:schemeClr val="accent1"/>
                </a:solidFill>
                <a:latin typeface="+mj-lt"/>
                <a:ea typeface="+mj-ea"/>
                <a:cs typeface="+mj-cs"/>
              </a:rPr>
              <a:t>Meine Aufgabe an euch</a:t>
            </a:r>
          </a:p>
        </p:txBody>
      </p:sp>
      <p:pic>
        <p:nvPicPr>
          <p:cNvPr id="5" name="Inhaltsplatzhalter 4">
            <a:extLst>
              <a:ext uri="{FF2B5EF4-FFF2-40B4-BE49-F238E27FC236}">
                <a16:creationId xmlns:a16="http://schemas.microsoft.com/office/drawing/2014/main" id="{3AC84B46-5367-6DA5-1CEF-BD3D25C4D62E}"/>
              </a:ext>
            </a:extLst>
          </p:cNvPr>
          <p:cNvPicPr>
            <a:picLocks noGrp="1" noChangeAspect="1"/>
          </p:cNvPicPr>
          <p:nvPr>
            <p:ph idx="1"/>
          </p:nvPr>
        </p:nvPicPr>
        <p:blipFill>
          <a:blip r:embed="rId2"/>
          <a:stretch>
            <a:fillRect/>
          </a:stretch>
        </p:blipFill>
        <p:spPr>
          <a:xfrm>
            <a:off x="985968" y="1098396"/>
            <a:ext cx="8288033" cy="3135276"/>
          </a:xfrm>
          <a:prstGeom prst="rect">
            <a:avLst/>
          </a:prstGeom>
        </p:spPr>
      </p:pic>
    </p:spTree>
    <p:extLst>
      <p:ext uri="{BB962C8B-B14F-4D97-AF65-F5344CB8AC3E}">
        <p14:creationId xmlns:p14="http://schemas.microsoft.com/office/powerpoint/2010/main" val="2709368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90A61547-2555-4DE2-A37F-A53E549174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3" name="Straight Connector 12">
              <a:extLst>
                <a:ext uri="{FF2B5EF4-FFF2-40B4-BE49-F238E27FC236}">
                  <a16:creationId xmlns:a16="http://schemas.microsoft.com/office/drawing/2014/main" id="{5C2447E0-8F0D-479C-94E4-82BC8EB68C0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F943397-DCDD-44CB-BBA9-9510B7698DD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E2630ADC-31DB-4C48-AC4A-DAAE5A7B8E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5">
              <a:extLst>
                <a:ext uri="{FF2B5EF4-FFF2-40B4-BE49-F238E27FC236}">
                  <a16:creationId xmlns:a16="http://schemas.microsoft.com/office/drawing/2014/main" id="{2CA5C44E-F54E-47E0-8989-4D8686B33C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Isosceles Triangle 16">
              <a:extLst>
                <a:ext uri="{FF2B5EF4-FFF2-40B4-BE49-F238E27FC236}">
                  <a16:creationId xmlns:a16="http://schemas.microsoft.com/office/drawing/2014/main" id="{FF54E15E-830B-4375-A239-4C51954DEA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Rectangle 27">
              <a:extLst>
                <a:ext uri="{FF2B5EF4-FFF2-40B4-BE49-F238E27FC236}">
                  <a16:creationId xmlns:a16="http://schemas.microsoft.com/office/drawing/2014/main" id="{CB37E322-FF7E-4872-BD6B-50A48CBEA5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28">
              <a:extLst>
                <a:ext uri="{FF2B5EF4-FFF2-40B4-BE49-F238E27FC236}">
                  <a16:creationId xmlns:a16="http://schemas.microsoft.com/office/drawing/2014/main" id="{710D0C1E-D2F8-45B2-AE14-1AC8E976F7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29">
              <a:extLst>
                <a:ext uri="{FF2B5EF4-FFF2-40B4-BE49-F238E27FC236}">
                  <a16:creationId xmlns:a16="http://schemas.microsoft.com/office/drawing/2014/main" id="{3216331B-17D0-4167-ABD2-B2198058C2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Isosceles Triangle 20">
              <a:extLst>
                <a:ext uri="{FF2B5EF4-FFF2-40B4-BE49-F238E27FC236}">
                  <a16:creationId xmlns:a16="http://schemas.microsoft.com/office/drawing/2014/main" id="{A53A7A96-3806-4BB3-91DE-6EED48AC7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Isosceles Triangle 21">
              <a:extLst>
                <a:ext uri="{FF2B5EF4-FFF2-40B4-BE49-F238E27FC236}">
                  <a16:creationId xmlns:a16="http://schemas.microsoft.com/office/drawing/2014/main" id="{F8C2B86C-EE71-466E-8991-503F9C9C1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el 1">
            <a:extLst>
              <a:ext uri="{FF2B5EF4-FFF2-40B4-BE49-F238E27FC236}">
                <a16:creationId xmlns:a16="http://schemas.microsoft.com/office/drawing/2014/main" id="{86017D13-4B99-B3F9-521B-EDC895D495B6}"/>
              </a:ext>
            </a:extLst>
          </p:cNvPr>
          <p:cNvSpPr>
            <a:spLocks noGrp="1"/>
          </p:cNvSpPr>
          <p:nvPr>
            <p:ph type="title"/>
          </p:nvPr>
        </p:nvSpPr>
        <p:spPr>
          <a:xfrm>
            <a:off x="985968" y="4473225"/>
            <a:ext cx="8288035" cy="1095059"/>
          </a:xfrm>
        </p:spPr>
        <p:txBody>
          <a:bodyPr vert="horz" lIns="91440" tIns="45720" rIns="91440" bIns="45720" rtlCol="0" anchor="b">
            <a:normAutofit/>
          </a:bodyPr>
          <a:lstStyle/>
          <a:p>
            <a:r>
              <a:rPr lang="en-US" sz="4800"/>
              <a:t>Lösung (mit Weg)</a:t>
            </a:r>
          </a:p>
        </p:txBody>
      </p:sp>
      <p:pic>
        <p:nvPicPr>
          <p:cNvPr id="5" name="Grafik 4">
            <a:extLst>
              <a:ext uri="{FF2B5EF4-FFF2-40B4-BE49-F238E27FC236}">
                <a16:creationId xmlns:a16="http://schemas.microsoft.com/office/drawing/2014/main" id="{86F9B54D-20C2-A5A9-02CE-C9DC5E7CD5C1}"/>
              </a:ext>
            </a:extLst>
          </p:cNvPr>
          <p:cNvPicPr>
            <a:picLocks noChangeAspect="1"/>
          </p:cNvPicPr>
          <p:nvPr/>
        </p:nvPicPr>
        <p:blipFill>
          <a:blip r:embed="rId2"/>
          <a:stretch>
            <a:fillRect/>
          </a:stretch>
        </p:blipFill>
        <p:spPr>
          <a:xfrm>
            <a:off x="985965" y="1063279"/>
            <a:ext cx="4883927" cy="2734999"/>
          </a:xfrm>
          <a:prstGeom prst="rect">
            <a:avLst/>
          </a:prstGeom>
        </p:spPr>
      </p:pic>
      <p:pic>
        <p:nvPicPr>
          <p:cNvPr id="7" name="Grafik 6">
            <a:extLst>
              <a:ext uri="{FF2B5EF4-FFF2-40B4-BE49-F238E27FC236}">
                <a16:creationId xmlns:a16="http://schemas.microsoft.com/office/drawing/2014/main" id="{647E60F9-36F4-023F-DAAE-8EB31AFB4A8B}"/>
              </a:ext>
            </a:extLst>
          </p:cNvPr>
          <p:cNvPicPr>
            <a:picLocks noChangeAspect="1"/>
          </p:cNvPicPr>
          <p:nvPr/>
        </p:nvPicPr>
        <p:blipFill>
          <a:blip r:embed="rId3"/>
          <a:stretch>
            <a:fillRect/>
          </a:stretch>
        </p:blipFill>
        <p:spPr>
          <a:xfrm>
            <a:off x="6131327" y="609600"/>
            <a:ext cx="3108808" cy="3642357"/>
          </a:xfrm>
          <a:prstGeom prst="rect">
            <a:avLst/>
          </a:prstGeom>
        </p:spPr>
      </p:pic>
    </p:spTree>
    <p:extLst>
      <p:ext uri="{BB962C8B-B14F-4D97-AF65-F5344CB8AC3E}">
        <p14:creationId xmlns:p14="http://schemas.microsoft.com/office/powerpoint/2010/main" val="4162910843"/>
      </p:ext>
    </p:extLst>
  </p:cSld>
  <p:clrMapOvr>
    <a:masterClrMapping/>
  </p:clrMapOvr>
</p:sld>
</file>

<file path=ppt/theme/theme1.xml><?xml version="1.0" encoding="utf-8"?>
<a:theme xmlns:a="http://schemas.openxmlformats.org/drawingml/2006/main" name="Facette">
  <a:themeElements>
    <a:clrScheme name="Rot">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Facette">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te">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TM02900688[[fn=Facette]]</Template>
  <TotalTime>0</TotalTime>
  <Words>323</Words>
  <Application>Microsoft Office PowerPoint</Application>
  <PresentationFormat>Breitbild</PresentationFormat>
  <Paragraphs>34</Paragraphs>
  <Slides>10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10</vt:i4>
      </vt:variant>
    </vt:vector>
  </HeadingPairs>
  <TitlesOfParts>
    <vt:vector size="16" baseType="lpstr">
      <vt:lpstr>Arial</vt:lpstr>
      <vt:lpstr>Arial</vt:lpstr>
      <vt:lpstr>Calibri</vt:lpstr>
      <vt:lpstr>Trebuchet MS</vt:lpstr>
      <vt:lpstr>Wingdings 3</vt:lpstr>
      <vt:lpstr>Facette</vt:lpstr>
      <vt:lpstr>Gaußsches Eliminationsverfahren</vt:lpstr>
      <vt:lpstr>Agenda </vt:lpstr>
      <vt:lpstr>Gauß</vt:lpstr>
      <vt:lpstr>Gaußsches Eliminationsverfahren</vt:lpstr>
      <vt:lpstr>Gaußsches Eliminationsverfahren Schritt für Schritt I </vt:lpstr>
      <vt:lpstr>Gaußsches Eliminationsverfahren Schritt für Schritt II </vt:lpstr>
      <vt:lpstr>Gaußsches Eliminationsverfahren Schritt für Schritt III</vt:lpstr>
      <vt:lpstr>Gaußsches Eliminationsverfahren Schritt für Schritt IV</vt:lpstr>
      <vt:lpstr>Meine Aufgabe an euch</vt:lpstr>
      <vt:lpstr>Lösung (mit Weg)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Gaußsches Eliminationsverfahren</dc:title>
  <dc:creator>Elias Ortner</dc:creator>
  <cp:lastModifiedBy>Elias Ortner</cp:lastModifiedBy>
  <cp:revision>3</cp:revision>
  <dcterms:created xsi:type="dcterms:W3CDTF">2022-06-23T17:11:15Z</dcterms:created>
  <dcterms:modified xsi:type="dcterms:W3CDTF">2022-06-24T19:49:15Z</dcterms:modified>
</cp:coreProperties>
</file>
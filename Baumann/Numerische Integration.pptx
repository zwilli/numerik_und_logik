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2" autoAdjust="0"/>
    <p:restoredTop sz="94660"/>
  </p:normalViewPr>
  <p:slideViewPr>
    <p:cSldViewPr snapToGrid="0">
      <p:cViewPr varScale="1">
        <p:scale>
          <a:sx n="39" d="100"/>
          <a:sy n="39" d="100"/>
        </p:scale>
        <p:origin x="5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2" d="100"/>
          <a:sy n="52" d="100"/>
        </p:scale>
        <p:origin x="756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988F7-110E-44AE-8EFE-FDE47E150287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DDD0C1-4FF0-4FDB-83AE-78C3EC98D4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211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060E35-5747-48D4-B279-EC14F02A389C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01D34-E0AD-4C75-815E-C9D0D08E1B1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709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85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199" y="151892"/>
            <a:ext cx="11785602" cy="1188720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199" y="1509486"/>
            <a:ext cx="11814629" cy="4963885"/>
          </a:xfrm>
        </p:spPr>
        <p:txBody>
          <a:bodyPr/>
          <a:lstStyle/>
          <a:p>
            <a:pPr lvl="0"/>
            <a:r>
              <a:rPr lang="de-DE" dirty="0" smtClean="0"/>
              <a:t>Formatvorlagen des Textmasters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209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153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342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19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476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330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 smtClean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409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93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/>
          <a:lstStyle/>
          <a:p>
            <a:fld id="{2BBC8FBA-B7EA-4EA2-85DB-D293291689EE}" type="datetimeFigureOut">
              <a:rPr lang="en-US" smtClean="0"/>
              <a:t>6/22/2022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</p:spPr>
        <p:txBody>
          <a:bodyPr/>
          <a:lstStyle/>
          <a:p>
            <a:fld id="{4DC87B05-DFE4-4731-9EC5-21B2CC84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28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3209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e.wikipedia.org/wiki/Numerische_Integra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sz="4400" cap="none" dirty="0" smtClean="0"/>
              <a:t>Numerische Integration</a:t>
            </a:r>
            <a:endParaRPr lang="en-US" sz="4400" cap="non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6367308" y="4032664"/>
            <a:ext cx="6801612" cy="1239894"/>
          </a:xfrm>
        </p:spPr>
        <p:txBody>
          <a:bodyPr/>
          <a:lstStyle/>
          <a:p>
            <a:r>
              <a:rPr lang="de-DE" dirty="0" smtClean="0"/>
              <a:t>David Baumann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048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cap="none" dirty="0" smtClean="0"/>
              <a:t>Was ist eine Numerische Integration</a:t>
            </a:r>
            <a:r>
              <a:rPr lang="de-DE" sz="3600" dirty="0" smtClean="0">
                <a:latin typeface="Bahnschrift" panose="020B0502040204020203" pitchFamily="34" charset="0"/>
              </a:rPr>
              <a:t>?</a:t>
            </a:r>
            <a:endParaRPr lang="en-US" sz="3600" dirty="0">
              <a:latin typeface="Bahnschrift" panose="020B0502040204020203" pitchFamily="34" charset="0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smtClean="0"/>
              <a:t>Eine Numerische Integration wird genutzt um den Inhalt eines Integrals einer positiven Funktion zu beschreiben</a:t>
            </a:r>
          </a:p>
          <a:p>
            <a:endParaRPr lang="de-DE" sz="2400" dirty="0"/>
          </a:p>
          <a:p>
            <a:r>
              <a:rPr lang="de-DE" sz="2400" dirty="0" smtClean="0"/>
              <a:t>Wird nur eingesetzt wenn elementare Funktionen wie Polynome und Logarithmen nicht benutzt werden können</a:t>
            </a:r>
          </a:p>
          <a:p>
            <a:endParaRPr lang="de-DE" sz="2400" dirty="0"/>
          </a:p>
          <a:p>
            <a:r>
              <a:rPr lang="de-DE" sz="2400" dirty="0" smtClean="0"/>
              <a:t>Integral wird zwischen Stützstellen aufgeteilt, wobei alle den gleichen Abstand haben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31715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cap="none" dirty="0" smtClean="0"/>
              <a:t>Darstellung Stützstellen</a:t>
            </a:r>
            <a:endParaRPr lang="en-US" sz="3600" dirty="0"/>
          </a:p>
        </p:txBody>
      </p:sp>
      <p:pic>
        <p:nvPicPr>
          <p:cNvPr id="8" name="Inhaltsplatzhalter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8710" y="1509713"/>
            <a:ext cx="6823155" cy="4964112"/>
          </a:xfrm>
        </p:spPr>
      </p:pic>
    </p:spTree>
    <p:extLst>
      <p:ext uri="{BB962C8B-B14F-4D97-AF65-F5344CB8AC3E}">
        <p14:creationId xmlns:p14="http://schemas.microsoft.com/office/powerpoint/2010/main" val="2297257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cap="none" dirty="0" smtClean="0"/>
              <a:t>Berechnungsverfahren</a:t>
            </a:r>
            <a:endParaRPr lang="en-US" sz="3600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800" dirty="0" smtClean="0"/>
              <a:t>2 Berechnungsmöglichkeiten:</a:t>
            </a:r>
          </a:p>
          <a:p>
            <a:pPr lvl="1"/>
            <a:r>
              <a:rPr lang="de-DE" sz="2400" dirty="0" smtClean="0"/>
              <a:t>Grafische Verfahren</a:t>
            </a:r>
          </a:p>
          <a:p>
            <a:pPr lvl="2"/>
            <a:r>
              <a:rPr lang="de-DE" sz="2400" dirty="0" smtClean="0"/>
              <a:t>Zählverfahren: Grafen auf Millimeterpapier zeichnen, Kästchen im Integral zusammenzählen</a:t>
            </a:r>
          </a:p>
          <a:p>
            <a:pPr lvl="2"/>
            <a:r>
              <a:rPr lang="de-DE" sz="2400" dirty="0" smtClean="0"/>
              <a:t>Messung: Berechnung mit einem Planimeter</a:t>
            </a:r>
          </a:p>
          <a:p>
            <a:pPr marL="457200" lvl="2" indent="0">
              <a:buNone/>
            </a:pPr>
            <a:endParaRPr lang="de-DE" sz="2400" dirty="0" smtClean="0"/>
          </a:p>
          <a:p>
            <a:pPr lvl="1"/>
            <a:r>
              <a:rPr lang="de-DE" sz="2400" dirty="0" smtClean="0"/>
              <a:t>Berechnung mit Quadraturformel</a:t>
            </a:r>
            <a:endParaRPr lang="en-US" sz="240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3316" y="3129155"/>
            <a:ext cx="4484912" cy="33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079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cap="none" dirty="0" smtClean="0"/>
              <a:t>Quadraturformel</a:t>
            </a:r>
            <a:endParaRPr lang="en-US" sz="3600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Wird eingesetzt wenn:</a:t>
            </a:r>
          </a:p>
          <a:p>
            <a:pPr lvl="1"/>
            <a:r>
              <a:rPr lang="de-DE" dirty="0" smtClean="0"/>
              <a:t>Elementare Funktionen nicht anwendbar sind (Polynom, Logarithmus)</a:t>
            </a:r>
          </a:p>
          <a:p>
            <a:pPr lvl="1"/>
            <a:r>
              <a:rPr lang="de-DE" dirty="0" smtClean="0"/>
              <a:t>Die numerische Auswertung zu komplex ist</a:t>
            </a:r>
          </a:p>
          <a:p>
            <a:pPr lvl="1"/>
            <a:r>
              <a:rPr lang="de-DE" dirty="0" smtClean="0"/>
              <a:t>Der Integrand nur diskret vorliegt</a:t>
            </a:r>
          </a:p>
          <a:p>
            <a:r>
              <a:rPr lang="de-DE" dirty="0" smtClean="0"/>
              <a:t>Aufbau der Formel:</a:t>
            </a:r>
          </a:p>
          <a:p>
            <a:endParaRPr lang="de-DE" dirty="0"/>
          </a:p>
          <a:p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Q(f) = Näherungsformel</a:t>
            </a:r>
            <a:r>
              <a:rPr lang="en-US" dirty="0"/>
              <a:t>	</a:t>
            </a:r>
            <a:r>
              <a:rPr lang="en-US" dirty="0" smtClean="0"/>
              <a:t>E(f) = </a:t>
            </a:r>
            <a:r>
              <a:rPr lang="en-US" dirty="0" err="1" smtClean="0"/>
              <a:t>Fehlerwert</a:t>
            </a:r>
            <a:endParaRPr lang="de-DE" dirty="0" smtClean="0"/>
          </a:p>
        </p:txBody>
      </p:sp>
      <p:pic>
        <p:nvPicPr>
          <p:cNvPr id="4" name="Grafik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53" y="3501572"/>
            <a:ext cx="6393546" cy="15675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47154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cap="none" dirty="0" smtClean="0"/>
              <a:t>Bekannteste </a:t>
            </a:r>
            <a:r>
              <a:rPr lang="de-DE" cap="none" dirty="0" err="1" smtClean="0"/>
              <a:t>Quadraturformeln</a:t>
            </a:r>
            <a:endParaRPr lang="en-US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 smtClean="0"/>
              <a:t>Interpolarische</a:t>
            </a:r>
            <a:r>
              <a:rPr lang="de-DE" sz="2400" dirty="0" smtClean="0"/>
              <a:t> Quadraturformel</a:t>
            </a:r>
          </a:p>
          <a:p>
            <a:endParaRPr lang="de-DE" sz="2400" dirty="0"/>
          </a:p>
          <a:p>
            <a:r>
              <a:rPr lang="de-DE" sz="2400" dirty="0" smtClean="0"/>
              <a:t>Gauß-Quadratur</a:t>
            </a:r>
          </a:p>
          <a:p>
            <a:endParaRPr lang="de-DE" sz="2400" dirty="0"/>
          </a:p>
          <a:p>
            <a:r>
              <a:rPr lang="de-DE" sz="2400" dirty="0" err="1" smtClean="0"/>
              <a:t>Rombergsche</a:t>
            </a:r>
            <a:r>
              <a:rPr lang="de-DE" sz="2400" dirty="0" smtClean="0"/>
              <a:t> Extrapolationsverfahren</a:t>
            </a:r>
          </a:p>
          <a:p>
            <a:endParaRPr lang="de-DE" sz="2400" dirty="0"/>
          </a:p>
          <a:p>
            <a:r>
              <a:rPr lang="de-DE" sz="2400" dirty="0" smtClean="0"/>
              <a:t>Monte-Carlo-Integration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7536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cap="none" dirty="0" smtClean="0"/>
              <a:t>Übung zum Zählverfahren</a:t>
            </a:r>
            <a:endParaRPr lang="en-US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Berechne die Fläche der Integralen A und B</a:t>
            </a:r>
          </a:p>
          <a:p>
            <a:r>
              <a:rPr lang="de-DE" dirty="0" smtClean="0"/>
              <a:t>Beachte, Kästchen durch die die Funktion verläuft werden als halbe Quadratmillimeter gezählt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661" y="2273300"/>
            <a:ext cx="7418678" cy="446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97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cap="none" dirty="0" smtClean="0"/>
              <a:t>Lösung</a:t>
            </a:r>
            <a:endParaRPr lang="en-US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smtClean="0"/>
              <a:t>Fläche A: 737 mm</a:t>
            </a:r>
            <a:r>
              <a:rPr lang="de-DE" sz="2400" baseline="30000" dirty="0" smtClean="0"/>
              <a:t>2</a:t>
            </a:r>
            <a:endParaRPr lang="de-DE" sz="2400" dirty="0" smtClean="0"/>
          </a:p>
          <a:p>
            <a:r>
              <a:rPr lang="de-DE" sz="2400" dirty="0" smtClean="0"/>
              <a:t>Fläche B: 641 mm</a:t>
            </a:r>
            <a:r>
              <a:rPr lang="de-DE" sz="2400" baseline="30000" dirty="0" smtClean="0"/>
              <a:t>2</a:t>
            </a:r>
          </a:p>
          <a:p>
            <a:pPr marL="0" indent="0">
              <a:buNone/>
            </a:pPr>
            <a:endParaRPr lang="en-US" sz="2400" baseline="3000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156" y="1509486"/>
            <a:ext cx="8915088" cy="532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17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cap="none" dirty="0" smtClean="0"/>
              <a:t>Quellen</a:t>
            </a:r>
            <a:endParaRPr lang="en-US" cap="non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hlinkClick r:id="rId2"/>
              </a:rPr>
              <a:t>https://</a:t>
            </a:r>
            <a:r>
              <a:rPr lang="en-US" sz="2800" dirty="0" smtClean="0">
                <a:hlinkClick r:id="rId2"/>
              </a:rPr>
              <a:t>de.wikipedia.org/wiki/Numerische_Integration</a:t>
            </a:r>
            <a:endParaRPr lang="en-US" sz="2800" dirty="0" smtClean="0"/>
          </a:p>
          <a:p>
            <a:r>
              <a:rPr lang="en-US" sz="2800" dirty="0"/>
              <a:t>https://www.sofatutor.at/mathematik/funktionen/integralrechnung/numerische-integrationsverfahren</a:t>
            </a:r>
          </a:p>
        </p:txBody>
      </p:sp>
    </p:spTree>
    <p:extLst>
      <p:ext uri="{BB962C8B-B14F-4D97-AF65-F5344CB8AC3E}">
        <p14:creationId xmlns:p14="http://schemas.microsoft.com/office/powerpoint/2010/main" val="206649815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TM10001115[[fn=Paket]]</Template>
  <TotalTime>0</TotalTime>
  <Words>163</Words>
  <Application>Microsoft Office PowerPoint</Application>
  <PresentationFormat>Breitbild</PresentationFormat>
  <Paragraphs>44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Bahnschrift</vt:lpstr>
      <vt:lpstr>Calibri</vt:lpstr>
      <vt:lpstr>Gill Sans MT</vt:lpstr>
      <vt:lpstr>Parcel</vt:lpstr>
      <vt:lpstr>Numerische Integration</vt:lpstr>
      <vt:lpstr>Was ist eine Numerische Integration?</vt:lpstr>
      <vt:lpstr>Darstellung Stützstellen</vt:lpstr>
      <vt:lpstr>Berechnungsverfahren</vt:lpstr>
      <vt:lpstr>Quadraturformel</vt:lpstr>
      <vt:lpstr>Bekannteste Quadraturformeln</vt:lpstr>
      <vt:lpstr>Übung zum Zählverfahren</vt:lpstr>
      <vt:lpstr>Lösung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David Baumann</dc:creator>
  <cp:lastModifiedBy>David Baumann</cp:lastModifiedBy>
  <cp:revision>25</cp:revision>
  <dcterms:created xsi:type="dcterms:W3CDTF">2022-05-25T12:37:23Z</dcterms:created>
  <dcterms:modified xsi:type="dcterms:W3CDTF">2022-06-22T17:36:57Z</dcterms:modified>
</cp:coreProperties>
</file>